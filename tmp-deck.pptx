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เปิดพิธีมอบโจทย์ ร่วมกับ ไทยเบฟ และคณะบริหารธุรกิจ ม.กรุงเทพ ภาพทั้งหมดเป็นภาพจริงที่ชุมชนส่งมา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 11.10–11.45 น. แบ่งเป็น ประธานชุมชน ~15 นาที และ ไทยเบฟ ~20 นาที (ปรับได้)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ประธานชุมชนเล่าที่มาของกลุ่ม ข้อความสีส้มในวงเล็บเหลี่ยมเป็นช่องให้เติมข้อมูลจริง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ทั้ง 3 รายการเป็นผลิตภัณฑ์ที่กลุ่มอาชีพรวงข้าวเข้าคัดสรรสุดยอดหนึ่งตำบล หนึ่งผลิตภัณฑ์ไทย (OPC) ปี 2569 ข้อมูลจากเอกสารที่ชุมชนส่งมา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ข้อมูลจากเอกสารคัดสรร OPC ปี 2569 ของกลุ่มอาชีพรวงข้าว ระดับ 3 ดาวตามประกาศนียบัตร OPC ปี 2567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ข้อมูลจากเอกสารคัดสรร OPC ปี 2569 ภาพกล่องและแพคเกจเป็นแบบปัจจุบันที่ใช้จำหน่าย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ข้อมูลจากเอกสารคัดสรร OPC ปี 2569 สินค้าตัวนี้คือสูตรใหม่ที่ออกจากโครงการ OTOP Premium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คุณอดิศักดิ์ กล่าวเกี่ยวกับชุมชนและบทบาทไทยเบฟ ข้อความในวงเล็บเหลี่ยมเป็นช่องให้เติมข้อมูลจริง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ภาพทั้งหมดในหน้านี้เป็นภาพตัวอย่างแนวคิด ใช้เป็นแรงบันดาลใจ ไม่ใช่ผลงานสุดท้ายของนักศึกษา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วันตัดสินตาม proposal และโน้ตลายมือคือ 17 พ.ย. 69 แต่บันทึกประชุม 23 ก.ย. เคยระบุเสาร์ 14 พ.ย. ควรยืนยันอีกครั้ง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11480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3" name="Image 0" descr="ThaiBev และ มหาวิทยาลัยกรุงเท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38404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508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พิธีมอบโจทย์ธุรกิจ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286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โครงการ Academic Service &amp; Strategic Partner 1/2569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8803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การพัฒนาศักยภาพธุรกิจชุมชน กลุ่มวิสาหกิจชุมชนรวงข้าว (กาละแมรวงข้าว)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749040"/>
            <a:ext cx="3154680" cy="384048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374904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ศุกร์ที่ 9 ตุลาคม 2569  ·  11.00–12.00 น.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703320" y="3749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703320" y="37490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Zoom Meeting</a:t>
            </a:r>
            <a:endParaRPr lang="en-US" sz="1100" dirty="0"/>
          </a:p>
        </p:txBody>
      </p:sp>
      <p:pic>
        <p:nvPicPr>
          <p:cNvPr id="11" name="Image 1" descr="กาละแมรวงข้าวบรรจุเรียงในถา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57200"/>
            <a:ext cx="3794760" cy="2286000"/>
          </a:xfrm>
          <a:prstGeom prst="rect">
            <a:avLst/>
          </a:prstGeom>
        </p:spPr>
      </p:pic>
      <p:pic>
        <p:nvPicPr>
          <p:cNvPr id="12" name="Image 2" descr="ประธานกลุ่มวิสาหกิจชุมชนรวงข้าวถือผลิตภัณฑ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880360"/>
            <a:ext cx="1828800" cy="1828800"/>
          </a:xfrm>
          <a:prstGeom prst="rect">
            <a:avLst/>
          </a:prstGeom>
        </p:spPr>
      </p:pic>
      <p:pic>
        <p:nvPicPr>
          <p:cNvPr id="13" name="Image 3" descr="กล่องกาละแมรวงข้าว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28803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กำหนดการพิธีมอบโจทย์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887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10.45–11.00 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94560" y="1188720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377440" y="1188720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เปิดห้อง Zoom / นักศึกษาลงทะเบียน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1773936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1773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11.00–11.05 น.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194560" y="1773936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377440" y="1773936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กล่าวเปิดพิธีโดยรองคณบดี คณะบริหารธุรกิจ และแนะนำวิทยากร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2359152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23591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11.05–11.10 น.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194560" y="2359152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377440" y="2359152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ถ่ายภาพหมู่ร่วมกัน (Screen Capture) — ขอความร่วมมือ นศ. แต่งกายสุภาพ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2944368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57200" y="294436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11.10–11.25 น.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194560" y="2944368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1D6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377440" y="2944368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 ประธานกลุ่มวิสาหกิจชุมชนรวงข้าว: ที่มาของชุมชน · สินค้าและจุดเด่น · ความต้องการของชุมชน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529584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7200" y="3529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11.25–11.45 น.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194560" y="3529584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1D6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2377440" y="3529584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2  ไทยเบฟ (คุณอดิศักดิ์ เทพอาสน์): กิจกรรมร่วมกับ EISA · โจทย์ 3 ด้าน · แผนงานโครงการ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57200" y="4114800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57200" y="411480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11.45–12.00 น.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194560" y="4114800"/>
            <a:ext cx="649224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2377440" y="4114800"/>
            <a:ext cx="6217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ช่วงตอบคำถามและปิดกิจกรรม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ที่มาของกลุ่มวิสาหกิจชุมชนรวงข้าว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pic>
        <p:nvPicPr>
          <p:cNvPr id="8" name="Image 0" descr="คุณสมหมาย นิลศรีนวล ประธานกลุ่มวิสาหกิจชุมชนรวงข้า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377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37033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7200" y="3703320"/>
            <a:ext cx="109728" cy="822960"/>
          </a:xfrm>
          <a:prstGeom prst="roundRect">
            <a:avLst>
              <a:gd name="adj" fmla="val 41667"/>
            </a:avLst>
          </a:prstGeom>
          <a:solidFill>
            <a:srgbClr val="1F8A5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31520" y="3703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คุณสมหมาย นิลศรีนวล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ประธานกลุ่มวิสาหกิจชุมชนรวงข้าว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572000" y="1188720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754880" y="1298448"/>
            <a:ext cx="3749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ที่ตั้ง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หมู่ที่ 7 ตำบลคูบางหลวง อำเภอลาดหลุมแก้ว จังหวัดปทุมธานี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จุดเริ่มต้นของกลุ่ม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i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[ใส่: ปีที่ก่อตั้ง / เรื่องราวการรวมกลุ่ม]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สมาชิกและบทบาท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i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[ใส่: จำนวนสมาชิก / ใครทำอะไรในกลุ่ม]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สิ่งที่อยากให้นักศึกษารู้จักชุมชน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i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[ใส่: ความภูมิใจ / วิถีชุมชน]</a:t>
            </a:r>
            <a:endParaRPr lang="en-US" sz="1300" dirty="0"/>
          </a:p>
        </p:txBody>
      </p:sp>
      <p:pic>
        <p:nvPicPr>
          <p:cNvPr id="14" name="Image 1" descr="สมาชิกชุมชนกำลังเตรียมกาละแม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383280"/>
            <a:ext cx="2011680" cy="1143000"/>
          </a:xfrm>
          <a:prstGeom prst="rect">
            <a:avLst/>
          </a:prstGeom>
        </p:spPr>
      </p:pic>
      <p:pic>
        <p:nvPicPr>
          <p:cNvPr id="15" name="Image 2" descr="การกวนกาละแมในกระทะใบใหญ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383280"/>
            <a:ext cx="201168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สินค้าและจุดเด่น: กาละแมรวงข้าว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pic>
        <p:nvPicPr>
          <p:cNvPr id="7" name="Image 0" descr="กาละแมรวงข้าวบรรจุเรียงในถา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011680"/>
          </a:xfrm>
          <a:prstGeom prst="rect">
            <a:avLst/>
          </a:prstGeom>
        </p:spPr>
      </p:pic>
      <p:pic>
        <p:nvPicPr>
          <p:cNvPr id="8" name="Image 1" descr="กล่องกาละแมรวงข้าว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1920240" cy="1188720"/>
          </a:xfrm>
          <a:prstGeom prst="rect">
            <a:avLst/>
          </a:prstGeom>
        </p:spPr>
      </p:pic>
      <p:pic>
        <p:nvPicPr>
          <p:cNvPr id="9" name="Image 2" descr="กล่องของฝากกาละแมรวงข้าว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0" y="3337560"/>
            <a:ext cx="1920240" cy="11887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0" y="1188720"/>
            <a:ext cx="41148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4754880" y="12801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สินค้าหลัก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กาละแมรวงข้าว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ช่องทางจำหน่ายปัจจุบัน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ขายผ่าน TikTok อยู่แล้ว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จุดเด่นของสินค้า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ผลิตภัณฑ์เด่น 3 รายการ (ดูหน้าถัดไป)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572000" y="2990088"/>
            <a:ext cx="4114800" cy="457200"/>
          </a:xfrm>
          <a:prstGeom prst="roundRect">
            <a:avLst>
              <a:gd name="adj" fmla="val 24000"/>
            </a:avLst>
          </a:prstGeom>
          <a:solidFill>
            <a:srgbClr val="E4F2E9"/>
          </a:solidFill>
          <a:ln w="9525">
            <a:solidFill>
              <a:srgbClr val="BFDCC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29900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โครงการนี้เน้น “ยกระดับสิ่งที่ชุมชนมีอยู่เดิม” ให้มีประสิทธิภาพยิ่งขึ้น</a:t>
            </a:r>
            <a:endParaRPr lang="en-US" sz="1150" dirty="0"/>
          </a:p>
        </p:txBody>
      </p:sp>
      <p:pic>
        <p:nvPicPr>
          <p:cNvPr id="14" name="Image 3" descr="ป้าย Thailand Best Local Food กาละแมรวงข้าว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566160"/>
            <a:ext cx="2011680" cy="1005840"/>
          </a:xfrm>
          <a:prstGeom prst="rect">
            <a:avLst/>
          </a:prstGeom>
        </p:spPr>
      </p:pic>
      <p:pic>
        <p:nvPicPr>
          <p:cNvPr id="15" name="Image 4" descr="ใบรับรอง OTOP กาละแมรวงข้าว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3566160"/>
            <a:ext cx="2011680" cy="100584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4645152" y="4297680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4645152" y="429768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Thailand Best Local Food</a:t>
            </a:r>
            <a:endParaRPr lang="en-US" sz="850" dirty="0"/>
          </a:p>
        </p:txBody>
      </p:sp>
      <p:sp>
        <p:nvSpPr>
          <p:cNvPr id="18" name="Shape 11"/>
          <p:cNvSpPr/>
          <p:nvPr/>
        </p:nvSpPr>
        <p:spPr>
          <a:xfrm>
            <a:off x="6748272" y="42976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6748272" y="42976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OTOP 4 ดาว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ผลิตภัณฑ์เด่น 3 รายการของชุมชน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9692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เข้าคัดสรรสุดยอดหนึ่งตำบล หนึ่งผลิตภัณฑ์ไทย (OTOP Product Champion) ปี 2569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10" name="Image 0" descr="กระยาสารทโบราณ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2468880" cy="10515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2542032"/>
            <a:ext cx="91440" cy="566928"/>
          </a:xfrm>
          <a:prstGeom prst="roundRect">
            <a:avLst>
              <a:gd name="adj" fmla="val 40000"/>
            </a:avLst>
          </a:prstGeom>
          <a:solidFill>
            <a:srgbClr val="F08A2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31520" y="250545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กระยาสารทโบราณ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สูตรน้ำตาลอ้อย ตรารวงข้าว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รหัสผลิตภัณฑ์ 0004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00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ขนมมงคลช่วงเทศกาลสารท ใช้ข้าวพอง ถั่วลิสง งา และน้ำอ้อยแท้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246120" y="128016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15" name="Image 1" descr="กาละแมมอญโบราณ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371600"/>
            <a:ext cx="2468880" cy="10515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337560" y="2542032"/>
            <a:ext cx="91440" cy="566928"/>
          </a:xfrm>
          <a:prstGeom prst="roundRect">
            <a:avLst>
              <a:gd name="adj" fmla="val 40000"/>
            </a:avLst>
          </a:prstGeom>
          <a:solidFill>
            <a:srgbClr val="1F8A5C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520440" y="250545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กาละแมมอญโบราณ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ตรารวงข้าว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รหัสผลิตภัณฑ์ 002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3429000" y="3200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กวนด้วยแรงคนกว่า 8 ชั่วโมง ข้าวเหนียว กะทิ น้ำตาลมะพร้าว/โตนด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35040" y="128016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20" name="Image 2" descr="กาละแมรวงข้าว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2468880" cy="10515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26480" y="2542032"/>
            <a:ext cx="91440" cy="566928"/>
          </a:xfrm>
          <a:prstGeom prst="roundRect">
            <a:avLst>
              <a:gd name="adj" fmla="val 40000"/>
            </a:avLst>
          </a:prstGeom>
          <a:solidFill>
            <a:srgbClr val="8B3A1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309360" y="250545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กาละแมรวงข้าว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สอดไส้ดาร์กช็อกโกแลต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รหัสผลิตภัณฑ์ 007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0" y="3200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สูตรใหม่จากโครงการ OTOP Premium ปี 2568 หวานมัน ลงตัวกับช็อกโกแลตเข้ม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886200"/>
            <a:ext cx="8183880" cy="658368"/>
          </a:xfrm>
          <a:prstGeom prst="roundRect">
            <a:avLst>
              <a:gd name="adj" fmla="val 19444"/>
            </a:avLst>
          </a:prstGeom>
          <a:solidFill>
            <a:srgbClr val="E4F2E9"/>
          </a:solidFill>
          <a:ln w="9525">
            <a:solidFill>
              <a:srgbClr val="BFDCC9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0080" y="3886200"/>
            <a:ext cx="7818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ผู้ผลิต: กลุ่มอาชีพรวงข้าว (รหัสผู้ประกอบการ OTOP 1305000050) ต.คูบางหลวง อ.ลาดหลุมแก้ว จ.ปทุมธานี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รวมกลุ่มตั้งแต่ปี 2558 · สมาชิก 10 คน จาก 8 ครัวเรือน (ผู้สูงอายุ 3 คน) · ขึ้นทะเบียนผู้ประกอบการ OTOP ปี 2560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กระยาสารทโบราณ สูตรน้ำตาลอ้อย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pic>
        <p:nvPicPr>
          <p:cNvPr id="8" name="Image 0" descr="กระยาสารทโบราณ สูตรน้ำตาลอ้อ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2514600" cy="2011680"/>
          </a:xfrm>
          <a:prstGeom prst="rect">
            <a:avLst/>
          </a:prstGeom>
        </p:spPr>
      </p:pic>
      <p:pic>
        <p:nvPicPr>
          <p:cNvPr id="9" name="Image 1" descr="กระยาสารทโบราณ สูตรน้ำตาลอ้อย (ภาพประกอบ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188720"/>
            <a:ext cx="1325880" cy="2011680"/>
          </a:xfrm>
          <a:prstGeom prst="rect">
            <a:avLst/>
          </a:prstGeom>
        </p:spPr>
      </p:pic>
      <p:pic>
        <p:nvPicPr>
          <p:cNvPr id="10" name="Image 2" descr="วัตถุดิบ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37560"/>
            <a:ext cx="1252728" cy="118872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12064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512064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</a:t>
            </a:r>
            <a:endParaRPr lang="en-US" sz="800" dirty="0"/>
          </a:p>
        </p:txBody>
      </p:sp>
      <p:pic>
        <p:nvPicPr>
          <p:cNvPr id="13" name="Image 3" descr="บรรจุภัณฑ์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6796" y="3337560"/>
            <a:ext cx="1252728" cy="118872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1851660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85166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บรรจุภัณฑ์</a:t>
            </a:r>
            <a:endParaRPr lang="en-US" sz="800" dirty="0"/>
          </a:p>
        </p:txBody>
      </p:sp>
      <p:pic>
        <p:nvPicPr>
          <p:cNvPr id="16" name="Image 4" descr="การผลิ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6392" y="3337560"/>
            <a:ext cx="1252728" cy="118872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91256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8" name="Text 10"/>
          <p:cNvSpPr txBox="1"/>
          <p:nvPr/>
        </p:nvSpPr>
        <p:spPr>
          <a:xfrm>
            <a:off x="3191256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การผลิต</a:t>
            </a:r>
            <a:endParaRPr lang="en-US" sz="800" dirty="0"/>
          </a:p>
        </p:txBody>
      </p:sp>
      <p:sp>
        <p:nvSpPr>
          <p:cNvPr id="19" name="Shape 11"/>
          <p:cNvSpPr/>
          <p:nvPr/>
        </p:nvSpPr>
        <p:spPr>
          <a:xfrm>
            <a:off x="530352" y="1261872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530352" y="12618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OPC 2569 · รหัส 0004</a:t>
            </a:r>
            <a:endParaRPr lang="en-US" sz="850" dirty="0"/>
          </a:p>
        </p:txBody>
      </p:sp>
      <p:sp>
        <p:nvSpPr>
          <p:cNvPr id="21" name="Shape 13"/>
          <p:cNvSpPr/>
          <p:nvPr/>
        </p:nvSpPr>
        <p:spPr>
          <a:xfrm>
            <a:off x="4572000" y="118872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2" name="Text 14"/>
          <p:cNvSpPr txBox="1"/>
          <p:nvPr/>
        </p:nvSpPr>
        <p:spPr>
          <a:xfrm>
            <a:off x="4754880" y="1280160"/>
            <a:ext cx="3794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ข้าวพอง ถั่วลิสง งา คั่วสดใหม่ทุกวัน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ใช้น้ำอ้อยแท้เคี่ยวแทนน้ำตาลทราย หอมหวานเป็นเอกลักษณ์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วัตถุดิบในประเทศทั้งหมด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ที่มาและจุดเด่น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ขนมไทยพื้นถิ่นจากภูมิปัญญา ทำในเทศกาลสารท ทำบุญอุทิศบรรพบุรุษ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เป็นขนมมงคล สื่อถึงความอุดมสมบูรณ์ สามัคคี และการแบ่งปัน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ได้รับคัดสรรเป็นผลิตภัณฑ์ OTOP ระดับ 3 ดาว (ปี 2567)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การพัฒนาผลิตภัณฑ์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จากชิ้นใหญ่ แข็ง ต้องกัดแบ่ง เป็นชิ้นเล็กพอดีคำ นุ่มขึ้น ทานง่าย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บรรจุถุงซีล รอยฉีกเปิดง่าย รักษาคุณภาพ ข้อมูลฉลากครบถ้วน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กาละแมมอญโบราณ ตรารวงข้าว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pic>
        <p:nvPicPr>
          <p:cNvPr id="8" name="Image 0" descr="กาละแมมอญโบราณ ตรารวงข้า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2514600" cy="2011680"/>
          </a:xfrm>
          <a:prstGeom prst="rect">
            <a:avLst/>
          </a:prstGeom>
        </p:spPr>
      </p:pic>
      <p:pic>
        <p:nvPicPr>
          <p:cNvPr id="9" name="Image 1" descr="กาละแมมอญโบราณ ตรารวงข้าว (ภาพประกอบ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188720"/>
            <a:ext cx="1325880" cy="2011680"/>
          </a:xfrm>
          <a:prstGeom prst="rect">
            <a:avLst/>
          </a:prstGeom>
        </p:spPr>
      </p:pic>
      <p:pic>
        <p:nvPicPr>
          <p:cNvPr id="10" name="Image 2" descr="หลายรสชาต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37560"/>
            <a:ext cx="1252728" cy="118872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12064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512064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หลายรสชาติ</a:t>
            </a:r>
            <a:endParaRPr lang="en-US" sz="800" dirty="0"/>
          </a:p>
        </p:txBody>
      </p:sp>
      <p:pic>
        <p:nvPicPr>
          <p:cNvPr id="13" name="Image 3" descr="ถุงซีลโลโก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6796" y="3337560"/>
            <a:ext cx="1252728" cy="118872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1851660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85166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ถุงซีลโลโก้</a:t>
            </a:r>
            <a:endParaRPr lang="en-US" sz="800" dirty="0"/>
          </a:p>
        </p:txBody>
      </p:sp>
      <p:pic>
        <p:nvPicPr>
          <p:cNvPr id="16" name="Image 4" descr="OTOP Premiu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6392" y="3337560"/>
            <a:ext cx="1252728" cy="118872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91256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8" name="Text 10"/>
          <p:cNvSpPr txBox="1"/>
          <p:nvPr/>
        </p:nvSpPr>
        <p:spPr>
          <a:xfrm>
            <a:off x="3191256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OTOP Premium</a:t>
            </a:r>
            <a:endParaRPr lang="en-US" sz="800" dirty="0"/>
          </a:p>
        </p:txBody>
      </p:sp>
      <p:sp>
        <p:nvSpPr>
          <p:cNvPr id="19" name="Shape 11"/>
          <p:cNvSpPr/>
          <p:nvPr/>
        </p:nvSpPr>
        <p:spPr>
          <a:xfrm>
            <a:off x="530352" y="1261872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530352" y="12618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OPC 2569 · รหัส 002</a:t>
            </a:r>
            <a:endParaRPr lang="en-US" sz="850" dirty="0"/>
          </a:p>
        </p:txBody>
      </p:sp>
      <p:sp>
        <p:nvSpPr>
          <p:cNvPr id="21" name="Shape 13"/>
          <p:cNvSpPr/>
          <p:nvPr/>
        </p:nvSpPr>
        <p:spPr>
          <a:xfrm>
            <a:off x="4572000" y="118872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2" name="Text 14"/>
          <p:cNvSpPr txBox="1"/>
          <p:nvPr/>
        </p:nvSpPr>
        <p:spPr>
          <a:xfrm>
            <a:off x="4754880" y="1280160"/>
            <a:ext cx="3794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ข้าวเหนียว กะทิคั้น น้ำตาลมะพร้าว/น้ำตาลโตนด เกลือ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กะทิจากผู้ผลิตในชุมชน น้ำตาลจาก ต.โชคลิขิต จ.สมุทรสงคราม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กรรมวิธีและจุดเด่น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กวนแบบดั้งเดิมด้วยแรงคนต่อเนื่องกว่า 8 ชั่วโมง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คุมอุณหภูมิ ความหนืด และจังหวะการกวน ให้คุณภาพสม่ำเสมอ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การพัฒนาผลิตภัณฑ์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ปรับสูตรลดความหวาน คงรสชาติและเอกลักษณ์ ตอบโจทย์ผู้บริโภคยุคใหม่ ผู้สูงอายุ และผู้ที่ระวังน้ำตาล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เพิ่มรสชาติ: เม็ดบัว กล้วยหอม ถั่ว มะพร้าว ทุเรียน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บรรจุถุงซีลโลโก้รวงข้าว ฉลากครบ มี Story และ QR Facebook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กาละแมรวงข้าว สอดไส้ดาร์กช็อกโกแลต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pic>
        <p:nvPicPr>
          <p:cNvPr id="8" name="Image 0" descr="กาละแมรวงข้าว สอดไส้ดาร์กช็อกโกแล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2514600" cy="2011680"/>
          </a:xfrm>
          <a:prstGeom prst="rect">
            <a:avLst/>
          </a:prstGeom>
        </p:spPr>
      </p:pic>
      <p:pic>
        <p:nvPicPr>
          <p:cNvPr id="9" name="Image 1" descr="กาละแมรวงข้าว สอดไส้ดาร์กช็อกโกแลต (ภาพประกอบ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188720"/>
            <a:ext cx="1325880" cy="2011680"/>
          </a:xfrm>
          <a:prstGeom prst="rect">
            <a:avLst/>
          </a:prstGeom>
        </p:spPr>
      </p:pic>
      <p:pic>
        <p:nvPicPr>
          <p:cNvPr id="10" name="Image 2" descr="ชิ้นพร้อมจำหน่าย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37560"/>
            <a:ext cx="1252728" cy="118872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12064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512064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ชิ้นพร้อมจำหน่าย</a:t>
            </a:r>
            <a:endParaRPr lang="en-US" sz="800" dirty="0"/>
          </a:p>
        </p:txBody>
      </p:sp>
      <p:pic>
        <p:nvPicPr>
          <p:cNvPr id="13" name="Image 3" descr="วัตถุดิบ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6796" y="3337560"/>
            <a:ext cx="1252728" cy="118872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1851660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85166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</a:t>
            </a:r>
            <a:endParaRPr lang="en-US" sz="800" dirty="0"/>
          </a:p>
        </p:txBody>
      </p:sp>
      <p:pic>
        <p:nvPicPr>
          <p:cNvPr id="16" name="Image 4" descr="บรรจุถุงซีล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6392" y="3337560"/>
            <a:ext cx="1252728" cy="118872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91256" y="4261104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8" name="Text 10"/>
          <p:cNvSpPr txBox="1"/>
          <p:nvPr/>
        </p:nvSpPr>
        <p:spPr>
          <a:xfrm>
            <a:off x="3191256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บรรจุถุงซีล</a:t>
            </a:r>
            <a:endParaRPr lang="en-US" sz="800" dirty="0"/>
          </a:p>
        </p:txBody>
      </p:sp>
      <p:sp>
        <p:nvSpPr>
          <p:cNvPr id="19" name="Shape 11"/>
          <p:cNvSpPr/>
          <p:nvPr/>
        </p:nvSpPr>
        <p:spPr>
          <a:xfrm>
            <a:off x="530352" y="1261872"/>
            <a:ext cx="2011680" cy="23774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530352" y="12618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OPC 2569 · รหัส 007 · สูตรใหม่</a:t>
            </a:r>
            <a:endParaRPr lang="en-US" sz="850" dirty="0"/>
          </a:p>
        </p:txBody>
      </p:sp>
      <p:sp>
        <p:nvSpPr>
          <p:cNvPr id="21" name="Shape 13"/>
          <p:cNvSpPr/>
          <p:nvPr/>
        </p:nvSpPr>
        <p:spPr>
          <a:xfrm>
            <a:off x="4572000" y="1188720"/>
            <a:ext cx="41148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2" name="Text 14"/>
          <p:cNvSpPr txBox="1"/>
          <p:nvPr/>
        </p:nvSpPr>
        <p:spPr>
          <a:xfrm>
            <a:off x="4754880" y="1280160"/>
            <a:ext cx="3794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ที่มา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พัฒนาในโครงการ OTOP Premium ปี 2568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ทดลองหลายรูปแบบ (เคลือบช็อกโกแลต สอดไส้ช็อกโกแลตลาวา สอดไส้ดาร์กช็อกโกแลต) ให้สมาชิกและคนในชุมชนชิม แล้วปรับสูตรจนได้สูตรปัจจุบัน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จุดเด่น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ดาร์กช็อกโกแลตเข้มช่วยสร้างสมดุลความหวานของกาละแม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ยังกวนแบบดั้งเดิมกว่า 8 ชั่วโมง ทานง่าย เป็นทางเลือกใหม่ผสมผสานขนมไทยกับช็อกโกแลต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วัตถุดิบและบรรจุภัณฑ์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ข้าวเหนียว กะทิ น้ำตาลมะพร้าว/โตนด + ดาร์กช็อกโกแลตคอยน์คัดจากผลิตภัณฑ์มาตรฐาน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บรรจุถ้วยกันไส้เสียรูป ปิดปากถ้วยด้วยใบตองแห้งให้กลิ่นหอมแบบขนมไทย ใส่ถุงซีลโลโก้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ความต้องการของชุมชน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1 · ประธานชุมชน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8" name="Image 0" descr="ภาพกาละแมรวงข้า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24688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F08A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2.1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คลิปภาพสินค้า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วิดีโอและภาพสินค้า เพื่อประชาสัมพันธ์และเพิ่มยอดจำหน่าย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14" name="Image 1" descr="กล่องบรรจุภัณฑ์ปัจจุบัน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280160"/>
            <a:ext cx="2468880" cy="13258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474720" y="2761488"/>
            <a:ext cx="502920" cy="502920"/>
          </a:xfrm>
          <a:prstGeom prst="ellipse">
            <a:avLst/>
          </a:prstGeom>
          <a:solidFill>
            <a:srgbClr val="1F8A5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47472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2.2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ออกแบบ Packaging + ต้นทุน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4747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บรรจุภัณฑ์ที่เหมาะกับสินค้า การขนส่ง และควบคุมต้นทุนได้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2648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20" name="Image 2" descr="บูธจำหน่ายสินค้าของชุมชน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2468880" cy="13258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09360" y="2761488"/>
            <a:ext cx="502920" cy="502920"/>
          </a:xfrm>
          <a:prstGeom prst="ellipse">
            <a:avLst/>
          </a:prstGeom>
          <a:solidFill>
            <a:srgbClr val="8B3A1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30936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931152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Website + Booth ขายสินค้า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30936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ช่องทางขายออนไลน์ และบูธแสดง/จำหน่ายสินค้า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ไทยเบฟกับการสร้างคุณค่าร่วมกับชุมชน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2 · ไทยเบฟ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3931920" cy="3337560"/>
          </a:xfrm>
          <a:prstGeom prst="roundRect">
            <a:avLst>
              <a:gd name="adj" fmla="val 3836"/>
            </a:avLst>
          </a:prstGeom>
          <a:solidFill>
            <a:srgbClr val="8B3A1F"/>
          </a:solidFill>
          <a:ln/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13716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D98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ผู้พูด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คุณอดิศักดิ์ เทพอาสน์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ประธานโครงการบรรเทาสาธารณภัยและจิตอาสา บริษัท ไทยเบฟเวอเรจ จำกัด (มหาชน)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D98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ทีมไทยเบฟ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คุณกุลธิดา เชื้อเทศ — ผู้จัดการโครงการศึกษา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คุณอรนุช ณ นคร — เจ้าหน้าที่ชำนาญการอาวุโสปฏิบัติการภาคสนาม-การศึกษา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657600"/>
            <a:ext cx="3474720" cy="1371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3749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D98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รูปแบบโครงการ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Challenge-based Learning: University – Student – Community – Strategic Partner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0" y="1188720"/>
            <a:ext cx="41148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754880" y="129844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กิจกรรมที่ดำเนินการร่วมกับชุมชน (EISA)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[ใส่: กิจกรรม/ผลลัพธ์ที่ผ่านมา]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บทบาทของไทยเบฟในโครงการนี้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มอบโจทย์จริงให้นักศึกษา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ร่วมบ่มเพาะและประเมินผลงาน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ออกบูธร่วมงาน Biz Week 2026</a:t>
            </a:r>
            <a:endParaRPr lang="en-US" sz="1300" dirty="0"/>
          </a:p>
        </p:txBody>
      </p:sp>
      <p:pic>
        <p:nvPicPr>
          <p:cNvPr id="14" name="Image 0" descr="ทีมคณะบริหารธุรกิจลงพื้นที่ชุมช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337560"/>
            <a:ext cx="2011680" cy="1188720"/>
          </a:xfrm>
          <a:prstGeom prst="rect">
            <a:avLst/>
          </a:prstGeom>
        </p:spPr>
      </p:pic>
      <p:pic>
        <p:nvPicPr>
          <p:cNvPr id="15" name="Image 1" descr="ภาพกิจกรรมที่คณะบริหารธุรกิจ มหาวิทยาลัยกรุงเทพ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337560"/>
            <a:ext cx="2011680" cy="11887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45152" y="4224528"/>
            <a:ext cx="1417320" cy="21945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645152" y="422452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ทีมคณะฯ ลงพื้นที่ชุมชน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748272" y="4224528"/>
            <a:ext cx="1600200" cy="219456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748272" y="422452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กิจกรรมที่คณะบริหารธุรกิจ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 3 ด้านที่มอบให้นักศึกษา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2 · ไทยเบฟ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8" name="Image 0" descr="Logistics &amp; Supply Ch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2468880" cy="1051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2468880"/>
            <a:ext cx="91440" cy="502920"/>
          </a:xfrm>
          <a:prstGeom prst="roundRect">
            <a:avLst>
              <a:gd name="adj" fmla="val 40000"/>
            </a:avLst>
          </a:prstGeom>
          <a:solidFill>
            <a:srgbClr val="F08A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2450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Logistics &amp; Supply Chain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3 ทีม · อ.สันต์ ปิ่นแก้ว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54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วิเคราะห์และออกแบบ Packaging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เปรียบเทียบต้นทุน (Cost Comparison)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Prototype / Mock-up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9184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13" name="Image 1" descr="Digital Market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280160"/>
            <a:ext cx="2468880" cy="10515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83280" y="2468880"/>
            <a:ext cx="91440" cy="502920"/>
          </a:xfrm>
          <a:prstGeom prst="roundRect">
            <a:avLst>
              <a:gd name="adj" fmla="val 40000"/>
            </a:avLst>
          </a:prstGeom>
          <a:solidFill>
            <a:srgbClr val="1F8A5C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566160" y="2450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Digital Marketing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 ทีม · อ.คณาพจน์ วงษ์เฉลียง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74720" y="3154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เว็บไซต์ + SEO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Dashboard วิเคราะห์ข้อมูล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กราฟิกร้านค้าออนไลน์ + Pop-up Booth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126480" y="1188720"/>
            <a:ext cx="2651760" cy="33375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18" name="Image 2" descr="Management / Busine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2468880" cy="105156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17920" y="2468880"/>
            <a:ext cx="91440" cy="502920"/>
          </a:xfrm>
          <a:prstGeom prst="roundRect">
            <a:avLst>
              <a:gd name="adj" fmla="val 40000"/>
            </a:avLst>
          </a:prstGeom>
          <a:solidFill>
            <a:srgbClr val="8B3A1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00800" y="2450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Management / Business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3 ทีม · ดร.เพ็ญจิรา คันธวงศ์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09360" y="3154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วิเคราะห์ตลาด/ลูกค้าจาก Social Media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Customer Insight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วิดีโอประชาสัมพันธ์สินค้า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ตัวอย่างแนวคิดสื่อดิจิทัลสำหรับชุมชน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2 · ไทยเบฟ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856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ภาพตัวอย่างแนวคิด ใช้เป็นแรงบันดาลใจให้นักศึกษา ไม่ใช่ผลงานสุดท้าย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" y="1243584"/>
            <a:ext cx="4050792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</p:spPr>
      </p:sp>
      <p:pic>
        <p:nvPicPr>
          <p:cNvPr id="10" name="Image 0" descr="เว็บไซต์ + S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77640" cy="1554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137160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48640" y="13716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เว็บไซต์ + SEO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672584" y="1243584"/>
            <a:ext cx="4050792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</p:spPr>
      </p:sp>
      <p:pic>
        <p:nvPicPr>
          <p:cNvPr id="14" name="Image 1" descr="Pop-up B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80160"/>
            <a:ext cx="3977640" cy="155448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800600" y="137160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4800600" y="1371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Pop-up Booth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20624" y="2935224"/>
            <a:ext cx="4050792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</p:spPr>
      </p:sp>
      <p:pic>
        <p:nvPicPr>
          <p:cNvPr id="18" name="Image 2" descr="ภาพสินค้า 1:1 และ 3: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971800"/>
            <a:ext cx="3977640" cy="15544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3063240"/>
            <a:ext cx="2286000" cy="256032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48640" y="3063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ภาพสินค้า 1:1 และ 3:4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4672584" y="2935224"/>
            <a:ext cx="4050792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</p:spPr>
      </p:sp>
      <p:pic>
        <p:nvPicPr>
          <p:cNvPr id="22" name="Image 3" descr="Dashboard วิเคราะห์ข้อมูล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71800"/>
            <a:ext cx="3977640" cy="15544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800600" y="3063240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800600" y="3063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Dashboard วิเคราะห์ข้อมูล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เส้นทางโครงการหลังพิธีมอบโจทย์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77824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329184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329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PART 2 · ไทยเบฟ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7A5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Academic Service &amp; Strategic Partner 1/2569  |  ไทยเบฟ × มหาวิทยาลัยกรุงเทพ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786384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3716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08A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ศ. 9 ต.ค. 69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07592" y="1920240"/>
            <a:ext cx="274320" cy="274320"/>
          </a:xfrm>
          <a:prstGeom prst="ellipse">
            <a:avLst/>
          </a:prstGeom>
          <a:solidFill>
            <a:srgbClr val="F08A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4231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0080" y="2542032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มอบโจทย์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11.00–12.00 น.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Zoom Meeting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13716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F8A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9748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พฤ. 22 ต.ค. 69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56432" y="1920240"/>
            <a:ext cx="274320" cy="274320"/>
          </a:xfrm>
          <a:prstGeom prst="ellipse">
            <a:avLst/>
          </a:prstGeom>
          <a:solidFill>
            <a:srgbClr val="1F8A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51760" y="24231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788920" y="2542032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ลงพื้นที่ชุมชน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08.40–11.00 น.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นศ. ลงเยี่ยมชมและเก็บข้อมูล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3716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8B3A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4632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อ. 17 พ.ย. 69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05272" y="1920240"/>
            <a:ext cx="274320" cy="274320"/>
          </a:xfrm>
          <a:prstGeom prst="ellipse">
            <a:avLst/>
          </a:prstGeom>
          <a:solidFill>
            <a:srgbClr val="8B3A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4231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937760" y="2542032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พิธีตัดสิน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11.00–14.00 น.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มหาวิทยาลัยกรุงเทพ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995160" y="13716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9516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พฤ. 19 พ.ย. 69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54112" y="1920240"/>
            <a:ext cx="274320" cy="274320"/>
          </a:xfrm>
          <a:prstGeom prst="ellipse">
            <a:avLst/>
          </a:prstGeom>
          <a:solidFill>
            <a:srgbClr val="D9A4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0" y="24231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086600" y="2542032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Biz Week 2026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10.00–15.00 น.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แสดงและจำหน่ายสินค้า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" y="4023360"/>
            <a:ext cx="8183880" cy="502920"/>
          </a:xfrm>
          <a:prstGeom prst="roundRect">
            <a:avLst>
              <a:gd name="adj" fmla="val 25455"/>
            </a:avLst>
          </a:prstGeom>
          <a:solidFill>
            <a:srgbClr val="E4F2E9"/>
          </a:solidFill>
          <a:ln w="9525">
            <a:solidFill>
              <a:srgbClr val="BFDCC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คัดเลือกผลงานนักศึกษา 10 ทีม (Digital Marketing 4 · Management 3 · Logistics 3) ไปจัดแสดงเป็น Showcase ที่ Biz Week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B3A1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ช่วงตอบคำถาม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2A1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11.45–12.00 น.  ·  ขอบคุณครับ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1005840" cy="5486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F8A5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Growing for a Better Tomorrow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38404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</p:spPr>
      </p:sp>
      <p:pic>
        <p:nvPicPr>
          <p:cNvPr id="7" name="Image 0" descr="ThaiBev และ มหาวิทยาลัยกรุงเท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23360"/>
            <a:ext cx="3611880" cy="548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2784" y="603504"/>
            <a:ext cx="2450592" cy="3822192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9525">
            <a:solidFill>
              <a:srgbClr val="EBDDBF"/>
            </a:solidFill>
            <a:prstDash val="solid"/>
          </a:ln>
          <a:effectLst>
            <a:outerShdw sx="100000" sy="100000" kx="0" ky="0" algn="bl" rotWithShape="0" blurRad="76200" dist="25400" dir="5400000">
              <a:srgbClr val="B9A271">
                <a:alpha val="28000"/>
              </a:srgbClr>
            </a:outerShdw>
          </a:effectLst>
        </p:spPr>
      </p:sp>
      <p:pic>
        <p:nvPicPr>
          <p:cNvPr id="9" name="Image 1" descr="สมาชิกชุมชนในทุ่งน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640080"/>
            <a:ext cx="2377440" cy="3749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พิธีมอบโจทย์ธุรกิจ กาละแมรวงข้าว</dc:title>
  <dc:subject>PptxGenJS Presentation</dc:subject>
  <dc:creator>PptxGenJS</dc:creator>
  <cp:lastModifiedBy>PptxGenJS</cp:lastModifiedBy>
  <cp:revision>1</cp:revision>
  <dcterms:created xsi:type="dcterms:W3CDTF">2026-10-06T08:06:04Z</dcterms:created>
  <dcterms:modified xsi:type="dcterms:W3CDTF">2026-10-06T08:06:04Z</dcterms:modified>
</cp:coreProperties>
</file>