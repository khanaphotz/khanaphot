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สไลด์ชี้แจงนักศึกษา DMK 323 เกี่ยวกับโจทย์ ไทม์ไลน์ และเกณฑ์คะแนน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Challenge-based Learning: University – Student – Community – Strategic Partner ตาม Project Proposal. ในโครงการมี 3 ภาควิชา; รายวิชาของเราอยู่ในด้าน Digital Marketing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แหล่งข้อมูล: เอกสารคัดสรร OPC 2569 และเอกสารรับรองของกลุ่ม (ทะเบียนวิสาหกิจชุมชน, ทะเบียน OTOP, ใบประกาศ) ที่ชุมชนส่งมา. ช่องทางจำหน่ายจากเอกสาร OPC หัวข้อ 4.1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ข้อมูลจากเอกสารคัดสรร OPC 2569 ของกลุ่มอาชีพรวงข้าว ทั้ง 3 รายการ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ตรวจสอบความถูกต้องของตัวเลขก่อนนำเสนอ: ThaiBev Sustainability Report 2025 (https://sustainability.thaibev.com/2025/en/community_social.php) และข่าวความร่วมมือ ThaiBev–ACTAP (กรุงเทพธุรกิจ 30 มิ.ย. 2569) / ThaiBev–จุฬาฯ (ฐานเศรษฐกิจ 2 ก.ค. 2569)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ที่มา: Project Brief Summary DMK 323 (4 ชิ้นงาน ชิ้นละ 10 คะแนน รวม 40) และสไลด์ Final Project (กลุ่ม 8 คน; Semrush, GA4, Google Sites, Looker Studio, Certificate).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ที่มา: ภาพตัวอย่างแนวคิดใน Project Brief Summary DMK 323 (Website Sitemap). ไม่ใช่งานสุดท้าย — นักศึกษาสร้างเว็บบน Google Sites เอง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ที่มา: Course Outline DMK 323 Sec. 309A/309E (ช่วงที่ 1: 15, ช่วงที่ 2: 15, ช่วงที่ 3: 70 = สอบ 30 + Group Final Project 40). Workshop 1 = 3 คะแนน (งานเดี่ยว); GA4 Certification = 5 คะแนน ส่ง 14 พ.ย. 2569 23.59 น. ยังไม่มีรายการคะแนนเก็บอื่นในไฟล์ จึงเว้นไว้ให้ระบุ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วันที่จาก Course Outline Sec. 309A (ศ.) และ 309E (พฤ.). ⚠ 309E: Re-exam 19 พ.ย. ตรงกับวัน Biz Week; Final Project Presentation ของรายวิชา (4 ธ.ค./26 พ.ย.) อยู่หลังวัน Final Pitching &amp; Decision ของโครงการ (17 พ.ย.) — ต้องยืนยันว่าส่งงานรอบไหน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ข้อกำหนดการส่งจาก Workshop 1 (Google Sites ต้องตั้งเป็น Public, ใส่รหัส นศ./อีเมลให้ถูกต้อง) และ Project Brief DMK 323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114800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pic>
        <p:nvPicPr>
          <p:cNvPr id="3" name="Image 0" descr="ThaiBev และ มหาวิทยาลัยกรุงเทพ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530352"/>
            <a:ext cx="3840480" cy="6400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14630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ชี้แจงโจทย์โครงการ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1031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Academic Service &amp; Strategic Partner 1/2569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5603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การพัฒนาศักยภาพธุรกิจชุมชน กลุ่มวิสาหกิจชุมชนรวงข้าว (กาละแมรวงข้าว)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57200" y="3310128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1F8A5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57200" y="331012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DMK 323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691640" y="33101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2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Digital Marketing Tools &amp; Techniques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8862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52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อ.คณาพจน์ วงษ์เฉลียง · หลักสูตรการตลาดดิจิทัล คณะบริหารธุรกิจ มหาวิทยาลัยกรุงเทพ  |  ภาคการศึกษาที่ 1/2569</a:t>
            </a:r>
            <a:endParaRPr lang="en-US" sz="1100" dirty="0"/>
          </a:p>
        </p:txBody>
      </p:sp>
      <p:pic>
        <p:nvPicPr>
          <p:cNvPr id="11" name="Image 1" descr="กาละแมรวงข้าวบรรจุเรียงในถาด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457200"/>
            <a:ext cx="3794760" cy="2286000"/>
          </a:xfrm>
          <a:prstGeom prst="rect">
            <a:avLst/>
          </a:prstGeom>
        </p:spPr>
      </p:pic>
      <p:pic>
        <p:nvPicPr>
          <p:cNvPr id="12" name="Image 2" descr="ประธานกลุ่มวิสาหกิจชุมชนรวงข้าว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880360"/>
            <a:ext cx="1828800" cy="1828800"/>
          </a:xfrm>
          <a:prstGeom prst="rect">
            <a:avLst/>
          </a:prstGeom>
        </p:spPr>
      </p:pic>
      <p:pic>
        <p:nvPicPr>
          <p:cNvPr id="13" name="Image 3" descr="กล่องกาละแมรวงข้าว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288036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โจทย์นี้มาจากไหน และเราเกี่ยวข้องอย่างไร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1005840" cy="54864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0" y="329184"/>
            <a:ext cx="2011680" cy="420624"/>
          </a:xfrm>
          <a:prstGeom prst="roundRect">
            <a:avLst>
              <a:gd name="adj" fmla="val 50000"/>
            </a:avLst>
          </a:prstGeom>
          <a:solidFill>
            <a:srgbClr val="8B3A1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75120" y="32918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ภาพรวมโครงการ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7A5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Academic Service &amp; Strategic Partner 1/2569  |  ไทยเบฟ × มหาวิทยาลัยกรุงเทพ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20574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66928" y="1316736"/>
            <a:ext cx="91440" cy="841248"/>
          </a:xfrm>
          <a:prstGeom prst="roundRect">
            <a:avLst>
              <a:gd name="adj" fmla="val 40000"/>
            </a:avLst>
          </a:prstGeom>
          <a:solidFill>
            <a:srgbClr val="F08A2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2801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ชุมชนรวงข้าว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ให้บริบทและโจทย์จริง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2606040" y="1188720"/>
            <a:ext cx="20574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15768" y="1316736"/>
            <a:ext cx="91440" cy="841248"/>
          </a:xfrm>
          <a:prstGeom prst="roundRect">
            <a:avLst>
              <a:gd name="adj" fmla="val 40000"/>
            </a:avLst>
          </a:prstGeom>
          <a:solidFill>
            <a:srgbClr val="1F8A5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926080" y="12801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ไทยเบฟ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มอบโจทย์ บ่มเพาะ และร่วมประเมิน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57200" y="2423160"/>
            <a:ext cx="20574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66928" y="2551176"/>
            <a:ext cx="91440" cy="841248"/>
          </a:xfrm>
          <a:prstGeom prst="roundRect">
            <a:avLst>
              <a:gd name="adj" fmla="val 40000"/>
            </a:avLst>
          </a:prstGeom>
          <a:solidFill>
            <a:srgbClr val="8B3A1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7240" y="25146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อาจารย์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ให้คำปรึกษาและประเมินผลงาน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2606040" y="2423160"/>
            <a:ext cx="20574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15768" y="2551176"/>
            <a:ext cx="91440" cy="841248"/>
          </a:xfrm>
          <a:prstGeom prst="roundRect">
            <a:avLst>
              <a:gd name="adj" fmla="val 40000"/>
            </a:avLst>
          </a:prstGeom>
          <a:solidFill>
            <a:srgbClr val="D9A44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2926080" y="25146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นักศึกษา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วิเคราะห์ พัฒนา และนำเสนอแนวทางที่ใช้ได้จริง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846320" y="1188720"/>
            <a:ext cx="38404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502920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โจทย์ 3 ด้านจาก 3 ภาควิชา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029200" y="1691640"/>
            <a:ext cx="3474720" cy="493776"/>
          </a:xfrm>
          <a:prstGeom prst="roundRect">
            <a:avLst>
              <a:gd name="adj" fmla="val 22222"/>
            </a:avLst>
          </a:prstGeom>
          <a:solidFill>
            <a:srgbClr val="FFF1D6"/>
          </a:solidFill>
          <a:ln w="9525">
            <a:solidFill>
              <a:srgbClr val="EBDDB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166360" y="1691640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Logistics &amp; Supply Chain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6B52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 ทีมเข้ารอบ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029200" y="2276856"/>
            <a:ext cx="3474720" cy="493776"/>
          </a:xfrm>
          <a:prstGeom prst="roundRect">
            <a:avLst>
              <a:gd name="adj" fmla="val 22222"/>
            </a:avLst>
          </a:prstGeom>
          <a:solidFill>
            <a:srgbClr val="E4F2E9"/>
          </a:solidFill>
          <a:ln w="9525">
            <a:solidFill>
              <a:srgbClr val="BFDCC9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166360" y="2276856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8A5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Digital Marketing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6B52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4 ทีมเข้ารอบ · รายวิชาของเรา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5029200" y="2862072"/>
            <a:ext cx="3474720" cy="493776"/>
          </a:xfrm>
          <a:prstGeom prst="roundRect">
            <a:avLst>
              <a:gd name="adj" fmla="val 22222"/>
            </a:avLst>
          </a:prstGeom>
          <a:solidFill>
            <a:srgbClr val="FFF1D6"/>
          </a:solidFill>
          <a:ln w="9525">
            <a:solidFill>
              <a:srgbClr val="EBDDB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166360" y="2862072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Management / Business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6B52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 ทีมเข้ารอบ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457200" y="3749040"/>
            <a:ext cx="8229600" cy="777240"/>
          </a:xfrm>
          <a:prstGeom prst="roundRect">
            <a:avLst>
              <a:gd name="adj" fmla="val 16471"/>
            </a:avLst>
          </a:prstGeom>
          <a:solidFill>
            <a:srgbClr val="E4F2E9"/>
          </a:solidFill>
          <a:ln w="9525">
            <a:solidFill>
              <a:srgbClr val="BFDCC9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40080" y="374904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8A5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เป้าหมายร่วม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นักศึกษาทำผลงานจากโจทย์จริงของชุมชน ผลงานที่ชุมชนนำไปใช้ได้จริง · ทีมที่ผ่านการคัดเลือก 10 ทีม (DMK 4 · MG 3 · LM 3) จัดแสดงเป็น Showcase ที่ Biz Week 2026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รู้จักชุมชนรวงข้าว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1005840" cy="54864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0" y="329184"/>
            <a:ext cx="2011680" cy="420624"/>
          </a:xfrm>
          <a:prstGeom prst="roundRect">
            <a:avLst>
              <a:gd name="adj" fmla="val 50000"/>
            </a:avLst>
          </a:prstGeom>
          <a:solidFill>
            <a:srgbClr val="8B3A1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75120" y="32918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ชุมชนและพันธมิตร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7A5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Academic Service &amp; Strategic Partner 1/2569  |  ไทยเบฟ × มหาวิทยาลัยกรุงเทพ</a:t>
            </a:r>
            <a:endParaRPr lang="en-US" sz="900" dirty="0"/>
          </a:p>
        </p:txBody>
      </p:sp>
      <p:pic>
        <p:nvPicPr>
          <p:cNvPr id="8" name="Image 0" descr="คุณสมหมาย นิลศรีนวล ประธานกลุ่มวิสาหกิจชุมชนรวงข้าว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3291840" cy="20116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57200" y="3337560"/>
            <a:ext cx="32918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640080" y="33375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คุณสมหมาย นิลศรีนวล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ประธานกลุ่มวิสาหกิจชุมชนรวงข้าว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B52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หมู่ 7 ต.คูบางหลวง อ.ลาดหลุมแก้ว จ.ปทุมธานี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931920" y="1188720"/>
            <a:ext cx="475488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4114800" y="1261872"/>
            <a:ext cx="4434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8A5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เส้นทางของกลุ่ม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รวมกลุ่มปี 2558 · สมาชิก 10 คน จาก 8 ครัวเรือน (ผู้สูงอายุ 3 คน)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ขึ้นทะเบียนผู้ประกอบการ OTOP ปี 2560 · จดทะเบียนวิสาหกิจชุมชนปี 2564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8A5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การยอมรับ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รางวัลชมเชย วิสาหกิจชุมชนดีเด่นระดับจังหวัด ปี 2568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เข้าคัดสรรสุดยอดหนึ่งตำบล หนึ่งผลิตภัณฑ์ไทย (OPC) ปี 2569 จำนวน 3 รายการ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ได้ใบอนุญาตจาก อย. และผ่านอบรมสุขาภิบาลอาหาร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8A5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ช่องทางจำหน่ายปัจจุบัน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ตลาดประจำวัด · ออกบูธ · เดอะมอลล์ (ทุก 15 วัน)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ออนไลน์: Facebook · TikTok · NexGen · Shopee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ผลิตภัณฑ์ที่ต้องพัฒนา: 3 รายการ OPC 2569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1005840" cy="54864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0" y="329184"/>
            <a:ext cx="2011680" cy="420624"/>
          </a:xfrm>
          <a:prstGeom prst="roundRect">
            <a:avLst>
              <a:gd name="adj" fmla="val 50000"/>
            </a:avLst>
          </a:prstGeom>
          <a:solidFill>
            <a:srgbClr val="8B3A1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75120" y="32918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ชุมชนและพันธมิตร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7A5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Academic Service &amp; Strategic Partner 1/2569  |  ไทยเบฟ × มหาวิทยาลัยกรุงเทพ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2651760" cy="26974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pic>
        <p:nvPicPr>
          <p:cNvPr id="9" name="Image 0" descr="กระยาสารทโบราณ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2468880" cy="10515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2450592"/>
            <a:ext cx="91440" cy="566928"/>
          </a:xfrm>
          <a:prstGeom prst="roundRect">
            <a:avLst>
              <a:gd name="adj" fmla="val 40000"/>
            </a:avLst>
          </a:prstGeom>
          <a:solidFill>
            <a:srgbClr val="F08A24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31520" y="2432304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กระยาสารทโบราณ</a:t>
            </a:r>
            <a:endParaRPr lang="en-US" sz="1400" dirty="0"/>
          </a:p>
          <a:p>
            <a:pPr indent="0" marL="0">
              <a:buNone/>
            </a:pPr>
            <a:r>
              <a:rPr lang="en-US" sz="1150" b="1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สูตรน้ำตาลอ้อย ตรารวงข้าว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31546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ข้าวพอง ถั่วลิสง งา น้ำอ้อยแท้ ขนมมงคลช่วงเทศกาลสารท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246120" y="1188720"/>
            <a:ext cx="2651760" cy="26974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pic>
        <p:nvPicPr>
          <p:cNvPr id="14" name="Image 1" descr="กาละแมมอญโบราณ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1280160"/>
            <a:ext cx="2468880" cy="105156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3337560" y="2450592"/>
            <a:ext cx="91440" cy="566928"/>
          </a:xfrm>
          <a:prstGeom prst="roundRect">
            <a:avLst>
              <a:gd name="adj" fmla="val 40000"/>
            </a:avLst>
          </a:prstGeom>
          <a:solidFill>
            <a:srgbClr val="1F8A5C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3520440" y="2432304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กาละแมมอญโบราณ</a:t>
            </a:r>
            <a:endParaRPr lang="en-US" sz="1400" dirty="0"/>
          </a:p>
          <a:p>
            <a:pPr indent="0" marL="0">
              <a:buNone/>
            </a:pPr>
            <a:r>
              <a:rPr lang="en-US" sz="1150" b="1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ตรารวงข้าว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3429000" y="31546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กวนด้วยแรงคนกว่า 8 ชั่วโมง ปรับสูตรลดความหวาน หลายรสชาติ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035040" y="1188720"/>
            <a:ext cx="2651760" cy="26974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pic>
        <p:nvPicPr>
          <p:cNvPr id="19" name="Image 2" descr="กาละแมรวงข้าว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280160"/>
            <a:ext cx="2468880" cy="105156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126480" y="2450592"/>
            <a:ext cx="91440" cy="566928"/>
          </a:xfrm>
          <a:prstGeom prst="roundRect">
            <a:avLst>
              <a:gd name="adj" fmla="val 40000"/>
            </a:avLst>
          </a:prstGeom>
          <a:solidFill>
            <a:srgbClr val="8B3A1F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6309360" y="2432304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กาละแมรวงข้าว</a:t>
            </a:r>
            <a:endParaRPr lang="en-US" sz="1400" dirty="0"/>
          </a:p>
          <a:p>
            <a:pPr indent="0" marL="0">
              <a:buNone/>
            </a:pPr>
            <a:r>
              <a:rPr lang="en-US" sz="1150" b="1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สอดไส้ดาร์กช็อกโกแลต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6217920" y="31546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สูตรใหม่จากโครงการ OTOP Premium ปี 2568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57200" y="4023360"/>
            <a:ext cx="8229600" cy="502920"/>
          </a:xfrm>
          <a:prstGeom prst="roundRect">
            <a:avLst>
              <a:gd name="adj" fmla="val 25455"/>
            </a:avLst>
          </a:prstGeom>
          <a:solidFill>
            <a:srgbClr val="E4F2E9"/>
          </a:solidFill>
          <a:ln w="9525">
            <a:solidFill>
              <a:srgbClr val="BFDCC9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640080" y="40233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8A5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โจทย์ของเรา: ยกระดับสิ่งที่ชุมชนมีอยู่เดิม ผ่านสื่อดิจิทัล ร้านค้าออนไลน์ และบูธ — ไม่ใช่เปลี่ยนตัวตนสินค้า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ไทยเบฟ: ทำไมจึงมาร่วมกับชุมชน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1005840" cy="54864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0" y="329184"/>
            <a:ext cx="2011680" cy="420624"/>
          </a:xfrm>
          <a:prstGeom prst="roundRect">
            <a:avLst>
              <a:gd name="adj" fmla="val 50000"/>
            </a:avLst>
          </a:prstGeom>
          <a:solidFill>
            <a:srgbClr val="8B3A1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75120" y="32918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ชุมชนและพันธมิตร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7A5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Academic Service &amp; Strategic Partner 1/2569  |  ไทยเบฟ × มหาวิทยาลัยกรุงเทพ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0058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F8A5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“Creating Income for Communities, Bringing Happiness to People”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1463040"/>
            <a:ext cx="26517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" y="1600200"/>
            <a:ext cx="1188720" cy="640080"/>
          </a:xfrm>
          <a:prstGeom prst="roundRect">
            <a:avLst>
              <a:gd name="adj" fmla="val 20000"/>
            </a:avLst>
          </a:prstGeom>
          <a:solidFill>
            <a:srgbClr val="F08A2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4360" y="16002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105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ชุมชน ใน 33 จังหวัด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28346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โครงการชุมชนดีมีรอยยิ้ม ดำเนินงาน 6 ปี ผู้ได้รับประโยชน์ 6,538 คน รายได้สะสม 93.8 ล้านบาท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46120" y="1463040"/>
            <a:ext cx="26517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383280" y="1600200"/>
            <a:ext cx="1188720" cy="640080"/>
          </a:xfrm>
          <a:prstGeom prst="roundRect">
            <a:avLst>
              <a:gd name="adj" fmla="val 20000"/>
            </a:avLst>
          </a:prstGeom>
          <a:solidFill>
            <a:srgbClr val="1F8A5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383280" y="16002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928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3383280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วิสาหกิจเพื่อสังคมระดับอำเภอ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3383280" y="28346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ความร่วมมือระดับฐานรากกับ ACTAP และจุฬาฯ เน้นการผลิต การค้า และบริการ (ข่าวปี 2569)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035040" y="1463040"/>
            <a:ext cx="26517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172200" y="1600200"/>
            <a:ext cx="1188720" cy="640080"/>
          </a:xfrm>
          <a:prstGeom prst="roundRect">
            <a:avLst>
              <a:gd name="adj" fmla="val 20000"/>
            </a:avLst>
          </a:prstGeom>
          <a:solidFill>
            <a:srgbClr val="8B3A1F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172200" y="16002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</a:t>
            </a:r>
            <a:endParaRPr lang="en-US" sz="2800" dirty="0"/>
          </a:p>
        </p:txBody>
      </p:sp>
      <p:sp>
        <p:nvSpPr>
          <p:cNvPr id="22" name="Text 19"/>
          <p:cNvSpPr txBox="1"/>
          <p:nvPr/>
        </p:nvSpPr>
        <p:spPr>
          <a:xfrm>
            <a:off x="6172200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มิติโจทย์ในโครงการนี้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172200" y="28346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Digital Marketing · Management/Business · Logistics &amp; Supply Chain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2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แหล่งข้อมูล: ThaiBev Sustainability Report 2025 (sustainability.thaibev.com/2025) · ข่าว กรุงเทพธุรกิจ 30 มิ.ย. 2569 และ ฐานเศรษฐกิจ 2 ก.ค. 2569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DMK 323: โจทย์โครงการ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1005840" cy="54864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0" y="329184"/>
            <a:ext cx="2011680" cy="420624"/>
          </a:xfrm>
          <a:prstGeom prst="roundRect">
            <a:avLst>
              <a:gd name="adj" fmla="val 50000"/>
            </a:avLst>
          </a:prstGeom>
          <a:solidFill>
            <a:srgbClr val="1F8A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75120" y="32918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DMK 323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7A5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Academic Service &amp; Strategic Partner 1/2569  |  ไทยเบฟ × มหาวิทยาลัยกรุงเทพ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8A5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เป้าหมาย: สร้างระบบนิเวศธุรกิจดิจิทัลให้กาละแมรวงข้าว — ผลงานที่ชุมชนนำไปใช้ต่อได้ทันที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1463040"/>
            <a:ext cx="2011680" cy="23317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928" y="1591056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1F8A5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66928" y="159105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10 คะแนน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1993392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SEO &amp; Website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สร้างหน้าเว็บบน Google Sites รองรับคีย์เวิร์ด “ของฝากปทุมธานี / กาละแมรวงข้าว” ปรับ On-page SEO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560320" y="1463040"/>
            <a:ext cx="2011680" cy="23317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670048" y="1591056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1F8A5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2670048" y="159105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10 คะแนน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2697480" y="1993392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Data Analytics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ติดตั้งและเชื่อมข้อมูล GA4 สร้างแดชบอร์ดสรุปผลด้วย Looker Studio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663440" y="1463040"/>
            <a:ext cx="2011680" cy="23317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73168" y="1591056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1F8A5C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773168" y="159105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10 คะแนน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4800600" y="1993392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Content &amp; Media Plan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สื่อ VDO และภาพนิ่งจาก AI พร้อม Media Plan และ Content Pillar 3 เดือน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766560" y="1463040"/>
            <a:ext cx="2011680" cy="23317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876288" y="1591056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1F8A5C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76288" y="159105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10 คะแนน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6903720" y="1993392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Pitching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นำเสนอแผนงานและสาธิตระบบให้ชุมชนและไทยเบฟ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57200" y="3977640"/>
            <a:ext cx="8229600" cy="548640"/>
          </a:xfrm>
          <a:prstGeom prst="roundRect">
            <a:avLst>
              <a:gd name="adj" fmla="val 23333"/>
            </a:avLst>
          </a:prstGeom>
          <a:solidFill>
            <a:srgbClr val="E4F2E9"/>
          </a:solidFill>
          <a:ln w="9525">
            <a:solidFill>
              <a:srgbClr val="BFDCC9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0080" y="3977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8A5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รวม 40 คะแนน (งานกลุ่ม) · ตัวอย่างหน้าตาผลงานดูในสไลด์ถัดไป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73152"/>
            <a:ext cx="4754880" cy="274320"/>
          </a:xfrm>
          <a:prstGeom prst="roundRect">
            <a:avLst>
              <a:gd name="adj" fmla="val 50000"/>
            </a:avLst>
          </a:prstGeom>
          <a:solidFill>
            <a:srgbClr val="1F8A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472" y="731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ตัวอย่างผลงาน: เว็บไซต์ + Sitemap (SEO &amp; Website)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257800" y="73152"/>
            <a:ext cx="3538728" cy="274320"/>
          </a:xfrm>
          <a:prstGeom prst="roundRect">
            <a:avLst>
              <a:gd name="adj" fmla="val 50000"/>
            </a:avLst>
          </a:prstGeom>
          <a:solidFill>
            <a:srgbClr val="6B523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257800" y="73152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ภาพตัวอย่างแนวคิด จาก Project Brief · ไม่ใช่งานสุดท้าย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55448" y="384048"/>
            <a:ext cx="7077456" cy="4736592"/>
          </a:xfrm>
          <a:prstGeom prst="roundRect">
            <a:avLst>
              <a:gd name="adj" fmla="val 1158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pic>
        <p:nvPicPr>
          <p:cNvPr id="7" name="Image 0" descr="ตัวอย่างผลงาน: เว็บไซต์ + Sitemap (SEO &amp; Website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11480"/>
            <a:ext cx="7022592" cy="46817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88352" y="411480"/>
            <a:ext cx="1572768" cy="468172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498080" y="530352"/>
            <a:ext cx="1353312" cy="440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8A5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สิ่งที่ต้องสร้าง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เว็บไซต์ Google Sites (Public)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โครงสร้างเมนู / Sitemap ชัดเจน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ปรับ On-page SEO: Title, Meta, URL, Heading, Image Alt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คีย์เวิร์ด: ของฝากปทุมธานี / กาละแมรวงข้าว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DMK 323: สัดส่วนคะแนน (100)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1005840" cy="54864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0" y="329184"/>
            <a:ext cx="2011680" cy="420624"/>
          </a:xfrm>
          <a:prstGeom prst="roundRect">
            <a:avLst>
              <a:gd name="adj" fmla="val 50000"/>
            </a:avLst>
          </a:prstGeom>
          <a:solidFill>
            <a:srgbClr val="1F8A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75120" y="32918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DMK 323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7A5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Academic Service &amp; Strategic Partner 1/2569  |  ไทยเบฟ × มหาวิทยาลัยกรุงเทพ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1207008" cy="64008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7200" y="1188720"/>
            <a:ext cx="120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15</a:t>
            </a:r>
            <a:endParaRPr lang="en-US" sz="20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ช่วง 1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1691640" y="1188720"/>
            <a:ext cx="1207008" cy="640080"/>
          </a:xfrm>
          <a:prstGeom prst="rect">
            <a:avLst/>
          </a:prstGeom>
          <a:solidFill>
            <a:srgbClr val="F08A2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691640" y="1188720"/>
            <a:ext cx="120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15</a:t>
            </a:r>
            <a:endParaRPr lang="en-US" sz="20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ช่วง 2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2926080" y="1188720"/>
            <a:ext cx="2441448" cy="640080"/>
          </a:xfrm>
          <a:prstGeom prst="rect">
            <a:avLst/>
          </a:prstGeom>
          <a:solidFill>
            <a:srgbClr val="2F6F9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926080" y="1188720"/>
            <a:ext cx="2441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30</a:t>
            </a:r>
            <a:endParaRPr lang="en-US" sz="20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สอบ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5394960" y="1188720"/>
            <a:ext cx="3264408" cy="640080"/>
          </a:xfrm>
          <a:prstGeom prst="rect">
            <a:avLst/>
          </a:prstGeom>
          <a:solidFill>
            <a:srgbClr val="1F8A5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394960" y="1188720"/>
            <a:ext cx="3264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40</a:t>
            </a:r>
            <a:endParaRPr lang="en-US" sz="20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Final Project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457200" y="2011680"/>
            <a:ext cx="402336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640080" y="2103120"/>
            <a:ext cx="37490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8A5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คะแนนเก็บ ช่วง 1–2 (รวม 30)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Workshop 1: Google Sites + SEO + GA4 (งานเดี่ยว)  3 คะแนน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GA4 Certification 2026 (ส่งภายใน 14 พ.ย. 69 เวลา 23.59 น.)  5 คะแนน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i="1" dirty="0">
                <a:solidFill>
                  <a:srgbClr val="B856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[ใส่: Assignment / Workshop อื่น ๆ และคะแนน]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i="1" dirty="0">
                <a:solidFill>
                  <a:srgbClr val="B856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[ใส่: เกณฑ์ Participation]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663440" y="2011680"/>
            <a:ext cx="402336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4846320" y="2103120"/>
            <a:ext cx="37490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8A5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Final Project 40 คะแนน (กลุ่ม)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SEO &amp; Website  10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Data Analytics (GA4 + Looker Studio)  10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Content &amp; Media Plan 3 เดือน (สื่อ AI)  10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Pitching  10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i="1" dirty="0">
                <a:solidFill>
                  <a:srgbClr val="B856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[ใส่: Rubric ละเอียด / เกณฑ์ประเมินรายหัวข้อ]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DMK 323: ไทม์ไลน์ที่ต้องจำ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1005840" cy="54864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0" y="329184"/>
            <a:ext cx="2011680" cy="420624"/>
          </a:xfrm>
          <a:prstGeom prst="roundRect">
            <a:avLst>
              <a:gd name="adj" fmla="val 50000"/>
            </a:avLst>
          </a:prstGeom>
          <a:solidFill>
            <a:srgbClr val="1F8A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75120" y="32918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DMK 323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7A5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Academic Service &amp; Strategic Partner 1/2569  |  ไทยเบฟ × มหาวิทยาลัยกรุงเทพ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7607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868680"/>
                <a:gridCol w="868680"/>
                <a:gridCol w="33832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ครั้งที่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3A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309A (ศ.)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3A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309E (พฤ.)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3A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เนื้อหา / จุดสำคัญ</a:t>
                      </a:r>
                      <a:endParaRPr lang="en-US" sz="11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3A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2A1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8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A2A1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9 ต.ค.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A2A1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8 ต.ค.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2A1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Generative AI Text Base · วันแจกโจทย์ Zoom 9 ต.ค.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2A1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9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A2A1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16 ต.ค.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A2A1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15 ต.ค.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2A1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Generative Art for Digital Marketing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2A1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10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A2A1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30 ต.ค.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A2A1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22 ต.ค.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2A1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Gen VDO / Avatar / Voice Over / Agentic AI (309A งด 23 ต.ค.)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2A1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11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A2A1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6 พ.ย.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A2A1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29 ต.ค.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2A1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Final Project Preparation &amp; Mentoring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2A1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12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A2A1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13 พ.ย.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A2A1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5 พ.ย.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2A1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Midterm Exam (30 คะแนน)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D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2A1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13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A2A1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20 พ.ย.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A2A1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12 พ.ย.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2A1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Augmented Reality (AR) for Marketing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2A1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14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A2A1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27 พ.ย.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A2A1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19 พ.ย.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2A1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RE-EXAM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2A1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15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A2A1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4 ธ.ค.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A2A1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26 พ.ย.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2A1A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Final Project Presentation (40 คะแนน)</a:t>
                      </a:r>
                      <a:endParaRPr lang="en-US" sz="105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9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400800" y="1097280"/>
            <a:ext cx="2286000" cy="329184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6537960" y="1188720"/>
            <a:ext cx="2057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8A5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จุดสำคัญของโครงการ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22 ต.ค. ลงพื้นที่ชุมชน 08.40–11.00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14 พ.ย. ส่ง GA4 Cert 23.59 น.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17 พ.ย. Final Pitching &amp; Decision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19 พ.ย. Biz Week 2026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00800" y="3429000"/>
            <a:ext cx="2286000" cy="310896"/>
          </a:xfrm>
          <a:prstGeom prst="roundRect">
            <a:avLst>
              <a:gd name="adj" fmla="val 29412"/>
            </a:avLst>
          </a:prstGeom>
          <a:solidFill>
            <a:srgbClr val="FFE9D2"/>
          </a:solidFill>
          <a:ln w="9525">
            <a:solidFill>
              <a:srgbClr val="F0B27A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492240" y="342900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6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⚠ 309E: Re-exam ตรงวัน Biz Week (19 พ.ย.)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3840480"/>
            <a:ext cx="2286000" cy="310896"/>
          </a:xfrm>
          <a:prstGeom prst="roundRect">
            <a:avLst>
              <a:gd name="adj" fmla="val 29412"/>
            </a:avLst>
          </a:prstGeom>
          <a:solidFill>
            <a:srgbClr val="FFE9D2"/>
          </a:solidFill>
          <a:ln w="9525">
            <a:solidFill>
              <a:srgbClr val="F0B27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492240" y="38404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6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⚠ Pitch 17 พ.ย. ก่อน Final ของวิชา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ส่งมอบอะไร ให้ใคร อย่างไร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1005840" cy="54864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0" y="329184"/>
            <a:ext cx="2011680" cy="420624"/>
          </a:xfrm>
          <a:prstGeom prst="roundRect">
            <a:avLst>
              <a:gd name="adj" fmla="val 50000"/>
            </a:avLst>
          </a:prstGeom>
          <a:solidFill>
            <a:srgbClr val="1F8A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75120" y="32918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DMK 323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7A5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Academic Service &amp; Strategic Partner 1/2569  |  ไทยเบฟ × มหาวิทยาลัยกรุงเทพ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143000"/>
            <a:ext cx="822960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66928" y="1234440"/>
            <a:ext cx="91440" cy="402336"/>
          </a:xfrm>
          <a:prstGeom prst="roundRect">
            <a:avLst>
              <a:gd name="adj" fmla="val 40000"/>
            </a:avLst>
          </a:prstGeom>
          <a:solidFill>
            <a:srgbClr val="1F8A5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1143000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เว็บไซต์ Google Sites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1143000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ตั้งค่า Public · ปรับ On-page SEO: Title, Meta, URL, Heading, Image Alt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57200" y="1819656"/>
            <a:ext cx="822960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66928" y="1911096"/>
            <a:ext cx="91440" cy="402336"/>
          </a:xfrm>
          <a:prstGeom prst="roundRect">
            <a:avLst>
              <a:gd name="adj" fmla="val 40000"/>
            </a:avLst>
          </a:prstGeom>
          <a:solidFill>
            <a:srgbClr val="1F8A5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22960" y="1819656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GA4 + Looker Studio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474720" y="1819656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ติดตั้ง GA4 แล้ว และสร้างแดชบอร์ดสรุปผล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57200" y="2496312"/>
            <a:ext cx="822960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66928" y="2587752"/>
            <a:ext cx="91440" cy="402336"/>
          </a:xfrm>
          <a:prstGeom prst="roundRect">
            <a:avLst>
              <a:gd name="adj" fmla="val 40000"/>
            </a:avLst>
          </a:prstGeom>
          <a:solidFill>
            <a:srgbClr val="1F8A5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22960" y="2496312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สื่อจาก AI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474720" y="2496312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วิดีโอและภาพนิ่ง พร้อม Media Plan และ Content Pillar 3 เดือน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3172968"/>
            <a:ext cx="822960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66928" y="3264408"/>
            <a:ext cx="91440" cy="402336"/>
          </a:xfrm>
          <a:prstGeom prst="roundRect">
            <a:avLst>
              <a:gd name="adj" fmla="val 40000"/>
            </a:avLst>
          </a:prstGeom>
          <a:solidFill>
            <a:srgbClr val="1F8A5C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22960" y="3172968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Pitch + สาธิตระบบ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3474720" y="3172968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นำเสนอให้ชุมชนและไทยเบฟ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457200" y="3849624"/>
            <a:ext cx="822960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66928" y="3941064"/>
            <a:ext cx="91440" cy="402336"/>
          </a:xfrm>
          <a:prstGeom prst="roundRect">
            <a:avLst>
              <a:gd name="adj" fmla="val 40000"/>
            </a:avLst>
          </a:prstGeom>
          <a:solidFill>
            <a:srgbClr val="1F8A5C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22960" y="3849624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ส่งงานให้ถูกต้อง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3474720" y="3849624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ใส่รหัส นศ./อีเมลให้ครบ · เปิดลิงก์เป็น Public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ช่วงถาม-ตอบ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ติดต่อ: อ.คณาพจน์ วงษ์เฉลียง · MS Teams: khanaphot.w@bu.ac.th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005840" cy="54864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1089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B856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ข้อมูลที่ต้องยืนยันก่อนใช้จริง: ดูหมายเหตุในสไลด์ ⚠ และช่อง [ใส่]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3977640"/>
            <a:ext cx="384048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</p:spPr>
      </p:sp>
      <p:pic>
        <p:nvPicPr>
          <p:cNvPr id="7" name="Image 0" descr="ThaiBev และ มหาวิทยาลัยกรุงเทพ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023360"/>
            <a:ext cx="3611880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72784" y="603504"/>
            <a:ext cx="2450592" cy="3822192"/>
          </a:xfrm>
          <a:prstGeom prst="roundRect">
            <a:avLst>
              <a:gd name="adj" fmla="val 5224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pic>
        <p:nvPicPr>
          <p:cNvPr id="9" name="Image 1" descr="สมาชิกชุมชนในทุ่งนา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640080"/>
            <a:ext cx="2377440" cy="3749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ชี้แจงโจทย์ DMK 323</dc:title>
  <dc:subject>PptxGenJS Presentation</dc:subject>
  <dc:creator>PptxGenJS</dc:creator>
  <cp:lastModifiedBy>PptxGenJS</cp:lastModifiedBy>
  <cp:revision>1</cp:revision>
  <dcterms:created xsi:type="dcterms:W3CDTF">2026-10-06T14:10:48Z</dcterms:created>
  <dcterms:modified xsi:type="dcterms:W3CDTF">2026-10-06T14:10:48Z</dcterms:modified>
</cp:coreProperties>
</file>